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17"/>
    <p:sldId id="273" r:id="rId18"/>
    <p:sldId id="269" r:id="rId19"/>
    <p:sldId id="270" r:id="rId20"/>
    <p:sldId id="27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063BE5B-8E01-4B91-9C5C-8479B17E1E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3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93" name="Google Shape;93;p3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99" name="Google Shape;99;p3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5" name="Google Shape;105;p3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1" name="Google Shape;111;p3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3" name="Google Shape;123;p3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9" name="Google Shape;129;p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35" name="Google Shape;135;p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2" name="Google Shape;142;p3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5" name="Google Shape;155;p4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1" name="Google Shape;161;p4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0" name="Google Shape;170;p4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4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4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93" name="Google Shape;193;p2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3" name="Google Shape;33;p26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5" name="Google Shape;35;p26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9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2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3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thub.com/Sriharshithameda/Agentic-AI-for-Personalized-Course-Pathways" TargetMode="External"/><Relationship Id="rId1" Type="http://schemas.openxmlformats.org/officeDocument/2006/relationships/hyperlink" Target="Meda%20-%20Chrome.lnk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/>
              <a:t>IBM University Engagement Project Submission</a:t>
            </a:r>
            <a:br>
              <a:rPr lang="en-US" b="1"/>
            </a:br>
            <a:endParaRPr lang="en-US" b="1"/>
          </a:p>
        </p:txBody>
      </p:sp>
      <p:sp>
        <p:nvSpPr>
          <p:cNvPr id="79" name="Google Shape;79;p33"/>
          <p:cNvSpPr txBox="1"/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/>
              <a:t>“Exploring the Power of Agentic AI with IBM Granite and LangFlow”</a:t>
            </a:r>
            <a:endParaRPr lang="en-US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86" name="Google Shape;86;p2"/>
          <p:cNvGraphicFramePr/>
          <p:nvPr/>
        </p:nvGraphicFramePr>
        <p:xfrm>
          <a:off x="1299257" y="2600315"/>
          <a:ext cx="9395000" cy="3000000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/>
                <a:gridCol w="2443375"/>
                <a:gridCol w="2443375"/>
                <a:gridCol w="2443375"/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u="none" strike="noStrike" cap="none"/>
                        <a:t>Meda Sri Harshitha</a:t>
                      </a:r>
                      <a:endParaRPr lang="en-IN"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u="none" strike="noStrike" cap="none"/>
                        <a:t>sriharshithameda@gmail.com</a:t>
                      </a:r>
                      <a:endParaRPr lang="en-IN"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u="none" strike="noStrike" cap="none"/>
                        <a:t>8977120320</a:t>
                      </a:r>
                      <a:endParaRPr lang="en-IN"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Domain of  Project – </a:t>
            </a:r>
            <a:r>
              <a:rPr lang="en-US" altLang="en-US" sz="2400">
                <a:sym typeface="Arial" panose="020B0604020202020204"/>
              </a:rPr>
              <a:t>Education (EdTech) | Technology: IBM Cloud Lite &amp; IBM Granite AI</a:t>
            </a:r>
            <a:endParaRPr lang="en-IN" altLang="en-US" sz="2400" b="1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06162" y="551965"/>
            <a:ext cx="9581177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Tile – </a:t>
            </a:r>
            <a:r>
              <a:rPr lang="en-US" altLang="en-US" sz="2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Agentic AI for Personalized Course Pathways</a:t>
            </a:r>
            <a:endParaRPr lang="en-US" altLang="en-US" sz="2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3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3975" y="3590925"/>
            <a:ext cx="1229995" cy="1184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1234440"/>
            <a:ext cx="10607040" cy="562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Statement: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LearnMate – Agentic AI for Personalized Course Pathways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Challenge</a:t>
            </a:r>
            <a:endParaRPr lang="en-US" altLang="en-US" sz="20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Students often struggle to choose the right courses and build a clear learning roadmap due to the overwhelming number of online resources and lack of personalized guidance.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Objective</a:t>
            </a:r>
            <a:endParaRPr lang="en-US" altLang="en-US" sz="20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Build an AI-powered learning coach that provides: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✅ Personalized course recommendations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✅ Skill assessment and progress tracking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✅ Dynamic learning roadmaps based on goals and interests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✅ Career guidance and skill gap analysis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✅ Multi-agent system for recommendations, knowledge retrieval, and feedback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✅ Interactive dashboard to monitor learning progress and achievements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704088"/>
            <a:ext cx="721461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-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79425" y="938530"/>
            <a:ext cx="10607040" cy="3755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AI-powered learning coach that provides personalized course recommendations and career guidance.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Uses RAG + IBM Granite Models to retrieve and summarize course information from trusted educational resources.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Multi-Agent System:</a:t>
            </a:r>
            <a:endParaRPr lang="en-US" altLang="en-US" sz="20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📚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Learning Knowledge Agent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Fetches course and skill information.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🎯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Course Recommendation Agent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Generates personalized learning paths.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🚀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Career Guidance Agent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Provides career suggestions and skill gap analysis.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📈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Progress Tracking Agent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Monitors progress and adapts recommendations.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Creates dynamic learning roadmaps based on interests, skills, and career goals.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Includes an interactive dashboard to visualize progress, completed courses, and skill development.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Built using IBM Cloud Lite, watsonx.ai, and Granite Models for scalable and intelligent personalized learning.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Outcome: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An end-to-end AI mentor that guides students toward the right courses and career pathways.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576072" y="476758"/>
            <a:ext cx="721461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Proposed Solution -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17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Technology Used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695325" y="1052703"/>
            <a:ext cx="10515600" cy="562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🔹</a:t>
            </a: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LangFlow Platform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Designs and orchestrates the multi-agent workflow visually.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🔹</a:t>
            </a: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IBM Granite Model (ibm-granite-3-2-8b)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Powers natural language understanding, reasoning, and personalized course recommendations.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🔹</a:t>
            </a: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IBM Cloud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Provides secure, scalable infrastructure for building and deploying LearnMate.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🔹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 (Retrieval-Augmented Generation)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Retrieves real-time course information and generates accurate, personalized recommendations.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🔹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IBM watsonx.ai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Enables model deployment, embeddings, and AI governance.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🔹</a:t>
            </a: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Vector Database (FAISS/Chroma)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Stores course embeddings for efficient information retrieval.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🔹</a:t>
            </a: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FastAPI + Streamlit/React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Backend APIs and interactive dashboard for learning progress and recommendations.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Langflow</a:t>
            </a:r>
            <a:r>
              <a:rPr lang="en-US" sz="2800" b="1" i="0" u="none" strike="noStrike" cap="none">
                <a:solidFill>
                  <a:srgbClr val="051D3A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component Used -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" name="Google Shape;120;p37"/>
          <p:cNvSpPr txBox="1"/>
          <p:nvPr/>
        </p:nvSpPr>
        <p:spPr>
          <a:xfrm>
            <a:off x="474980" y="862965"/>
            <a:ext cx="11212195" cy="532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1) Chat Input</a:t>
            </a:r>
            <a:r>
              <a:rPr lang="en-I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Interface where users enter their interests, career goals, skill levels, and learning preferences (text/voice).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2) IBM watsonx.ai Agent</a:t>
            </a:r>
            <a:r>
              <a:rPr lang="en-I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Processes user inputs using IBM Granite models to generate personalized learning recommendations and career guidance.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3) IBM Granite Model</a:t>
            </a:r>
            <a:r>
              <a:rPr lang="en-I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Granite-4.0-8B-Instruct → Fast and efficient for real-time course recommendations, roadmap generation, and reasoning.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4) Chat Output</a:t>
            </a:r>
            <a:r>
              <a:rPr lang="en-I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Displays AI-generated responses such as personalized course pathways, skill gap analysis, and career recommendations.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5) File Component</a:t>
            </a:r>
            <a:r>
              <a:rPr lang="en-I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Stores and retrieves user profiles, completed courses, learning progress, and educational datasets.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6) Vector Store (FAISS/Chroma)</a:t>
            </a:r>
            <a:r>
              <a:rPr lang="en-I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Stores course embeddings and educational content for RAG-based retrieval and personalized recommendations.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Langflow</a:t>
            </a:r>
            <a:r>
              <a:rPr lang="en-US" sz="28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workflow -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3" descr="Fusion-Based Steganography-2026-07-04-114652"/>
          <p:cNvPicPr>
            <a:picLocks noChangeAspect="1"/>
          </p:cNvPicPr>
          <p:nvPr/>
        </p:nvPicPr>
        <p:blipFill>
          <a:blip r:embed="rId1"/>
          <a:srcRect t="8882" b="13644"/>
          <a:stretch>
            <a:fillRect/>
          </a:stretch>
        </p:blipFill>
        <p:spPr>
          <a:xfrm>
            <a:off x="925830" y="1078865"/>
            <a:ext cx="10768965" cy="5560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Architecture blueprint</a:t>
            </a:r>
            <a:endParaRPr sz="28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" name="Picture 1" descr="Fusion-Based Steganography-2026-07-04-1154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433830"/>
            <a:ext cx="10811510" cy="4858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475488" y="283464"/>
            <a:ext cx="931773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Role of Agentic AI in the solution 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21665" y="908685"/>
            <a:ext cx="11104880" cy="562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🤖 </a:t>
            </a:r>
            <a:r>
              <a:rPr lang="en-IN" altLang="zh-CN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Acts as an Intelligent Learning Coach by understanding students' interests, skills, and career goals.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🎯 </a:t>
            </a:r>
            <a:r>
              <a:rPr lang="en-IN" altLang="zh-CN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Makes Autonomous Decisions to recommend the most relevant courses and learning pathways.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📚 </a:t>
            </a:r>
            <a:r>
              <a:rPr lang="en-IN" altLang="zh-CN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Retrieves Knowledge Dynamically using RAG to fetch up-to-date course and skill information.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🔄 </a:t>
            </a:r>
            <a:r>
              <a:rPr lang="en-IN" altLang="zh-CN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Adapts Continuously by updating recommendations based on user progress and changing preferences.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🚀 </a:t>
            </a:r>
            <a:r>
              <a:rPr lang="en-IN" altLang="zh-CN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Provides Personalized Career Guidance through skill gap analysis and career-oriented roadmaps.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📈 </a:t>
            </a:r>
            <a:r>
              <a:rPr lang="en-IN" altLang="zh-CN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Monitors Progress and Gives Feedback to keep students motivated and on track.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🔗 </a:t>
            </a:r>
            <a:r>
              <a:rPr lang="en-IN" altLang="zh-CN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Coordinates Multiple Agents (Knowledge, Recommendation, Career Guidance, and Progress Tracking) to deliver an end-to-end personalized learning experience.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/>
          <p:nvPr/>
        </p:nvSpPr>
        <p:spPr>
          <a:xfrm>
            <a:off x="839547" y="18852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Token Usage 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11860" y="970280"/>
            <a:ext cx="8140700" cy="5857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11,761 tokens are used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Before Prompt	</a:t>
            </a:r>
            <a:endParaRPr lang="en-US" altLang="en-US" sz="2000" b="1"/>
          </a:p>
          <a:p>
            <a:r>
              <a:rPr lang="en-US" altLang="en-US" sz="2000"/>
              <a:t>Available Tokens: 25,038</a:t>
            </a:r>
            <a:endParaRPr lang="en-US" altLang="en-US" sz="2000"/>
          </a:p>
          <a:p>
            <a:r>
              <a:rPr lang="en-US" altLang="en-US" sz="2000" b="1">
                <a:sym typeface="+mn-ea"/>
              </a:rPr>
              <a:t>After Prompt</a:t>
            </a:r>
            <a:endParaRPr lang="en-US" altLang="en-US" sz="2000" b="1"/>
          </a:p>
          <a:p>
            <a:r>
              <a:rPr lang="en-US" altLang="en-US" sz="2000"/>
              <a:t>Available Tokens: 13,277</a:t>
            </a:r>
            <a:endParaRPr lang="en-US" altLang="en-US" sz="2000"/>
          </a:p>
          <a:p>
            <a:r>
              <a:rPr lang="en-US" altLang="en-US" sz="2000"/>
              <a:t>Tokens Consumed: 11,761	</a:t>
            </a:r>
            <a:endParaRPr lang="en-US" altLang="en-US" sz="2000"/>
          </a:p>
          <a:p>
            <a:r>
              <a:rPr lang="en-US" altLang="en-US" sz="2000" b="1"/>
              <a:t>Breakdown</a:t>
            </a:r>
            <a:endParaRPr lang="en-US" altLang="en-US" sz="2000" b="1"/>
          </a:p>
          <a:p>
            <a:r>
              <a:rPr lang="en-US" altLang="en-US" sz="2000"/>
              <a:t>Input Tokens: Student interests, skills, career goals, and queries.</a:t>
            </a:r>
            <a:endParaRPr lang="en-US" altLang="en-US" sz="2000"/>
          </a:p>
          <a:p>
            <a:r>
              <a:rPr lang="en-US" altLang="en-US" sz="2000"/>
              <a:t>RAG Context Tokens: Retrieved course information and educational content.</a:t>
            </a:r>
            <a:endParaRPr lang="en-US" altLang="en-US" sz="2000"/>
          </a:p>
          <a:p>
            <a:r>
              <a:rPr lang="en-US" altLang="en-US" sz="2000"/>
              <a:t>Output Tokens: Personalized learning pathways, recommendations, and feedback.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Formula:</a:t>
            </a:r>
            <a:endParaRPr lang="en-US" altLang="en-US" sz="2000"/>
          </a:p>
          <a:p>
            <a:r>
              <a:rPr lang="en-US" altLang="en-US" sz="2000"/>
              <a:t>Tokens Used = Before Prompt Tokens – After Prompt Tokens</a:t>
            </a:r>
            <a:endParaRPr lang="en-US" altLang="en-US" sz="2000"/>
          </a:p>
          <a:p>
            <a:r>
              <a:rPr lang="en-US" altLang="en-US" sz="2000"/>
              <a:t>            = 25,038 – 13,277</a:t>
            </a:r>
            <a:endParaRPr lang="en-US" altLang="en-US" sz="2000"/>
          </a:p>
          <a:p>
            <a:r>
              <a:rPr lang="en-US" altLang="en-US" sz="2000"/>
              <a:t>            = 11,761 Tokens</a:t>
            </a: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0"/>
          <p:cNvSpPr txBox="1"/>
          <p:nvPr/>
        </p:nvSpPr>
        <p:spPr>
          <a:xfrm>
            <a:off x="777240" y="484632"/>
            <a:ext cx="712317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Novelty and Uniqueness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777240" y="1207008"/>
            <a:ext cx="11301984" cy="532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✨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Agentic AI Learning Coach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Goes beyond simple course recommendations by acting as a personalized AI mentor.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🧠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Multi-Agent Architecture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Separate agents for knowledge retrieval, recommendations, career guidance, and progress tracking.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📚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RAG-Powered Recommendations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Retrieves real-time course and skill information from trusted educational resources.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🎯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Dynamic Personalized Roadmaps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Continuously adapts learning paths based on progress, interests, and career goals.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📈</a:t>
            </a: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Skill Gap Analysis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Identifies missing skills and recommends targeted learning resources.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🚀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Career-Oriented Guidance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Aligns learning pathways with industry roles such as Data Science, Cybersecurity, and Frontend Development.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📊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Interactive Progress Dashboard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Visualizes course completion, skills acquired, and goal achievement.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Unique Value Proposition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"LearnMate is not just a course recommender—it is an adaptive AI mentor that continuously guides students toward the right skills, courses, and career paths."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Git Hub Link</a:t>
            </a:r>
            <a:endParaRPr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" name="Text Box 0">
            <a:hlinkClick r:id="rId1" tooltip="" action="ppaction://hlinkfile"/>
          </p:cNvPr>
          <p:cNvSpPr txBox="1"/>
          <p:nvPr/>
        </p:nvSpPr>
        <p:spPr>
          <a:xfrm>
            <a:off x="1017905" y="1252220"/>
            <a:ext cx="8246110" cy="1092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hlinkClick r:id="rId2" tooltip="" action="ppaction://hlinkfile"/>
              </a:rPr>
              <a:t>https://</a:t>
            </a:r>
            <a:r>
              <a:rPr lang="en-US" altLang="en-US">
                <a:hlinkClick r:id="rId2" tooltip="" action="ppaction://hlinkfile"/>
              </a:rPr>
              <a:t>github.com/Sriharshithameda/Agentic-AI-for-</a:t>
            </a:r>
            <a:r>
              <a:rPr lang="en-US" altLang="en-US">
                <a:hlinkClick r:id="rId2" tooltip="" action="ppaction://hlinkfile"/>
              </a:rPr>
              <a:t>Personalized-Course-Pathways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479584" y="40421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Future Scope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2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308610" y="1221740"/>
            <a:ext cx="11802745" cy="427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🎓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Integration with MOOCs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Connect with platforms like Coursera, edX, Udemy, and NPTEL for real-time course recommendations.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🤖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AI Mentor &amp; Doubt Assistant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Provide 24/7 personalized learning support and career guidance.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📄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Resume &amp; Portfolio Builder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Generate ATS-friendly resumes and showcase completed projects.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💼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Internship &amp; Job Recommendations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Match users with relevant internships and job opportunities based on acquired skills.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🏆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Certification &amp; Skill Verification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Recommend industry-recognized certifications and track achievements.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🌍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Multilingual Support –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Enable personalized learning in multiple languages for wider accessibility.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📊 </a:t>
            </a:r>
            <a:r>
              <a:rPr lang="en-US" altLang="en-US" sz="2000" b="1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Advanced Learning Analytics –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Predict skill gaps, learning outcomes, and career readiness using AI.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174" name="Google Shape;174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6" name="Google Shape;176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Certificates Earned:</a:t>
            </a:r>
            <a:br>
              <a:rPr lang="en-US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140" y="1196975"/>
            <a:ext cx="7109460" cy="5318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Certificates Earned:</a:t>
            </a:r>
            <a:br>
              <a:rPr lang="en-US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795" y="1124585"/>
            <a:ext cx="7320280" cy="53111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/>
        </p:nvSpPr>
        <p:spPr>
          <a:xfrm>
            <a:off x="327949" y="207380"/>
            <a:ext cx="6096000" cy="95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Certificates Earned:</a:t>
            </a:r>
            <a:endParaRPr lang="en-US"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Google Shape;183;p43"/>
          <p:cNvSpPr txBox="1"/>
          <p:nvPr/>
        </p:nvSpPr>
        <p:spPr>
          <a:xfrm>
            <a:off x="552048" y="690061"/>
            <a:ext cx="6389965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endParaRPr lang="en-US" sz="28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" y="1105535"/>
            <a:ext cx="9586595" cy="54209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/>
        </p:nvSpPr>
        <p:spPr>
          <a:xfrm>
            <a:off x="176696" y="226391"/>
            <a:ext cx="6096000" cy="95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Certificates Earned: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​</a:t>
            </a:r>
            <a:endParaRPr sz="2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660" y="980440"/>
            <a:ext cx="9997440" cy="52546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 Box 0"/>
          <p:cNvSpPr txBox="1"/>
          <p:nvPr/>
        </p:nvSpPr>
        <p:spPr>
          <a:xfrm>
            <a:off x="2783840" y="2493010"/>
            <a:ext cx="702500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7500" b="1"/>
              <a:t>THANK YOU</a:t>
            </a:r>
            <a:endParaRPr lang="en-IN" altLang="en-US" sz="75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6754</Words>
  <Application>WPS Presentation</Application>
  <PresentationFormat/>
  <Paragraphs>176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University Engagement Project Submission </dc:title>
  <dc:creator>Manda Anirudh</dc:creator>
  <cp:lastModifiedBy>sriha</cp:lastModifiedBy>
  <cp:revision>4</cp:revision>
  <dcterms:created xsi:type="dcterms:W3CDTF">2026-07-04T14:42:00Z</dcterms:created>
  <dcterms:modified xsi:type="dcterms:W3CDTF">2026-07-05T14:54:44Z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871987E60FF94164BBC1E99EFB097F46_13</vt:lpwstr>
  </property>
</Properties>
</file>